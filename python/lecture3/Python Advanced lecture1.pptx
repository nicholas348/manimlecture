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17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71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Python advanced lectur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 advanced lecture 1</a:t>
            </a:r>
          </a:p>
        </p:txBody>
      </p:sp>
      <p:sp>
        <p:nvSpPr>
          <p:cNvPr id="183" name="进阶函数，数学库，进阶面向对象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进阶函数，数学库，进阶面向对象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进阶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进阶函数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进阶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进阶函数</a:t>
            </a:r>
          </a:p>
        </p:txBody>
      </p:sp>
      <p:sp>
        <p:nvSpPr>
          <p:cNvPr id="188" name="装饰器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装饰器</a:t>
            </a:r>
          </a:p>
        </p:txBody>
      </p:sp>
      <p:sp>
        <p:nvSpPr>
          <p:cNvPr id="189" name="装饰器是一种特殊的函数，它接受一个函数，返回一个更改过的函数。…"/>
          <p:cNvSpPr txBox="1"/>
          <p:nvPr>
            <p:ph type="body" idx="1"/>
          </p:nvPr>
        </p:nvSpPr>
        <p:spPr>
          <a:xfrm>
            <a:off x="1206500" y="3050070"/>
            <a:ext cx="21971000" cy="9454446"/>
          </a:xfrm>
          <a:prstGeom prst="rect">
            <a:avLst/>
          </a:prstGeom>
        </p:spPr>
        <p:txBody>
          <a:bodyPr/>
          <a:lstStyle/>
          <a:p>
            <a:pPr/>
            <a:r>
              <a:t>装饰器是一种特殊的函数，它接受一个函数，返回一个更改过的函数。</a:t>
            </a:r>
          </a:p>
          <a:p>
            <a:pPr/>
            <a:r>
              <a:t>比如说，我希望在一个函数执行以前可以先输出“执行了这个函数”这个文本，我就可以用decorator装饰这个函数，让它达到这个功能</a:t>
            </a:r>
          </a:p>
          <a:p>
            <a:pPr/>
            <a:r>
              <a:t>格式：def decorator():</a:t>
            </a:r>
          </a:p>
          <a:p>
            <a:pPr lvl="7" marL="0" indent="3200400">
              <a:buSzTx/>
              <a:buNone/>
            </a:pPr>
            <a:r>
              <a:t>Def wrapper(*args, **kwargs):</a:t>
            </a:r>
          </a:p>
          <a:p>
            <a:pPr/>
            <a:r>
              <a:t>在函数前：@decorator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进阶函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进阶函数</a:t>
            </a:r>
          </a:p>
        </p:txBody>
      </p:sp>
      <p:sp>
        <p:nvSpPr>
          <p:cNvPr id="192" name="装饰器:常见的装饰器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装饰器:常见的装饰器</a:t>
            </a:r>
          </a:p>
        </p:txBody>
      </p:sp>
      <p:sp>
        <p:nvSpPr>
          <p:cNvPr id="193" name="@abstractmethod: 将一个方法的定义变为子类方法定义…"/>
          <p:cNvSpPr txBox="1"/>
          <p:nvPr>
            <p:ph type="body" idx="1"/>
          </p:nvPr>
        </p:nvSpPr>
        <p:spPr>
          <a:xfrm>
            <a:off x="1206500" y="3050070"/>
            <a:ext cx="21971000" cy="9454446"/>
          </a:xfrm>
          <a:prstGeom prst="rect">
            <a:avLst/>
          </a:prstGeom>
        </p:spPr>
        <p:txBody>
          <a:bodyPr/>
          <a:lstStyle/>
          <a:p>
            <a:pPr/>
            <a:r>
              <a:t>@abstractmethod: 将一个方法的定义变为子类方法定义</a:t>
            </a:r>
          </a:p>
          <a:p>
            <a:pPr/>
            <a:r>
              <a:t>@classmethod:将</a:t>
            </a:r>
          </a:p>
          <a:p>
            <a:pPr/>
            <a:r>
              <a:t>@staticmethod:</a:t>
            </a:r>
          </a:p>
          <a:p>
            <a:pPr/>
            <a:r>
              <a:t>@property：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进阶面向对象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进阶面向对象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基本面向对象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基本面向对象</a:t>
            </a:r>
          </a:p>
        </p:txBody>
      </p:sp>
      <p:sp>
        <p:nvSpPr>
          <p:cNvPr id="198" name="什么是面向对象？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什么是面向对象？</a:t>
            </a:r>
          </a:p>
        </p:txBody>
      </p:sp>
      <p:sp>
        <p:nvSpPr>
          <p:cNvPr id="199" name="当你在描述一个物体时，你会描述什么？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当你在描述一个物体时，你会描述什么？</a:t>
            </a:r>
          </a:p>
          <a:p>
            <a:pPr/>
            <a:r>
              <a:t>静态（各种数据）以及动态（各种行为）</a:t>
            </a:r>
          </a:p>
          <a:p>
            <a:pPr/>
            <a:r>
              <a:t>面向对象定义了一个物体的各种数据以及行为。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20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grpSp>
        <p:nvGrpSpPr>
          <p:cNvPr id="206" name="Image Gallery"/>
          <p:cNvGrpSpPr/>
          <p:nvPr/>
        </p:nvGrpSpPr>
        <p:grpSpPr>
          <a:xfrm>
            <a:off x="113362" y="51331"/>
            <a:ext cx="24384001" cy="14161007"/>
            <a:chOff x="0" y="0"/>
            <a:chExt cx="24384000" cy="14161005"/>
          </a:xfrm>
        </p:grpSpPr>
        <p:pic>
          <p:nvPicPr>
            <p:cNvPr id="204" name="1*NxXw72-CDGp7b7pz2kga5g.png" descr="1*NxXw72-CDGp7b7pz2kga5g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9106" t="0" r="9106" b="0"/>
            <a:stretch>
              <a:fillRect/>
            </a:stretch>
          </p:blipFill>
          <p:spPr>
            <a:xfrm>
              <a:off x="0" y="0"/>
              <a:ext cx="24384000" cy="135726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5" name="Caption"/>
            <p:cNvSpPr/>
            <p:nvPr/>
          </p:nvSpPr>
          <p:spPr>
            <a:xfrm>
              <a:off x="0" y="13648839"/>
              <a:ext cx="24384000" cy="5121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noAutofit/>
            </a:bodyPr>
            <a:lstStyle>
              <a:lvl1pPr algn="ctr">
                <a:lnSpc>
                  <a:spcPct val="100000"/>
                </a:lnSpc>
                <a:spcBef>
                  <a:spcPts val="0"/>
                </a:spcBef>
                <a:defRPr sz="2400">
                  <a:solidFill>
                    <a:srgbClr val="5E5E5E"/>
                  </a:solidFill>
                </a:defRPr>
              </a:lvl1pPr>
            </a:lstStyle>
            <a:p>
              <a:pPr/>
              <a:r>
                <a:t>Caption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基本面向对象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基本面向对象</a:t>
            </a:r>
          </a:p>
        </p:txBody>
      </p:sp>
      <p:sp>
        <p:nvSpPr>
          <p:cNvPr id="209" name="格式与方法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726440">
              <a:defRPr sz="4840"/>
            </a:lvl1pPr>
          </a:lstStyle>
          <a:p>
            <a:pPr/>
            <a:r>
              <a:t>格式与方法</a:t>
            </a:r>
          </a:p>
        </p:txBody>
      </p:sp>
      <p:sp>
        <p:nvSpPr>
          <p:cNvPr id="210" name="物体/类定义：class 类名：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物体/类定义：class 类名：</a:t>
            </a:r>
          </a:p>
          <a:p>
            <a:pPr/>
            <a:r>
              <a:t>初始化： def __init__:</a:t>
            </a:r>
          </a:p>
          <a:p>
            <a:pPr/>
            <a:r>
              <a:t>其他方法： def 方法名（self,变量）：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进阶面向对象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进阶面向对象</a:t>
            </a:r>
          </a:p>
        </p:txBody>
      </p:sp>
      <p:sp>
        <p:nvSpPr>
          <p:cNvPr id="213" name="Dunder metho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Dunder method</a:t>
            </a:r>
          </a:p>
        </p:txBody>
      </p:sp>
      <p:sp>
        <p:nvSpPr>
          <p:cNvPr id="214" name="Dunder method 是一种python的特殊方法，用于定义一个类的标准指令下的行为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Dunder method 是一种python的特殊方法，用于定义一个类的标准指令下的行为</a:t>
            </a:r>
          </a:p>
          <a:p>
            <a:pPr/>
            <a:r>
              <a:t>__add__:定义两个对象相加</a:t>
            </a:r>
          </a:p>
          <a:p>
            <a:pPr/>
            <a:r>
              <a:t>__new__:创建一个新的对象会对整个类有什么作用</a:t>
            </a:r>
          </a:p>
          <a:p>
            <a:pPr/>
            <a:r>
              <a:t>__init__定义一个类的初始化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ython 异常分析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 异常分析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ython异常分析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38">
              <a:defRPr spc="-149" sz="7480">
                <a:solidFill>
                  <a:srgbClr val="FFFFFF"/>
                </a:solidFill>
              </a:defRPr>
            </a:lvl1pPr>
          </a:lstStyle>
          <a:p>
            <a:pPr/>
            <a:r>
              <a:t>python异常分析</a:t>
            </a:r>
          </a:p>
        </p:txBody>
      </p:sp>
      <p:sp>
        <p:nvSpPr>
          <p:cNvPr id="21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Python在执行程序中不可避免的会产生错误，导致程序崩溃，产生严重后果。…"/>
          <p:cNvSpPr txBox="1"/>
          <p:nvPr>
            <p:ph type="body" idx="1"/>
          </p:nvPr>
        </p:nvSpPr>
        <p:spPr>
          <a:xfrm>
            <a:off x="1206500" y="3050070"/>
            <a:ext cx="21971000" cy="9454446"/>
          </a:xfrm>
          <a:prstGeom prst="rect">
            <a:avLst/>
          </a:prstGeom>
        </p:spPr>
        <p:txBody>
          <a:bodyPr/>
          <a:lstStyle/>
          <a:p>
            <a:pPr marL="548639" indent="-548639" defTabSz="2194505">
              <a:spcBef>
                <a:spcPts val="4000"/>
              </a:spcBef>
              <a:defRPr sz="4319"/>
            </a:pPr>
            <a:r>
              <a:t>Python在执行程序中不可避免的会产生错误，导致程序崩溃，产生严重后果。</a:t>
            </a:r>
          </a:p>
          <a:p>
            <a:pPr marL="548639" indent="-548639" defTabSz="2194505">
              <a:spcBef>
                <a:spcPts val="4000"/>
              </a:spcBef>
              <a:defRPr sz="4319"/>
            </a:pPr>
            <a:r>
              <a:t>我们需要一种方法来防止这种行为的产生，于是有了异常分析。</a:t>
            </a:r>
          </a:p>
          <a:p>
            <a:pPr marL="548639" indent="-548639" defTabSz="2194505">
              <a:spcBef>
                <a:spcPts val="4000"/>
              </a:spcBef>
              <a:defRPr sz="4319"/>
            </a:pPr>
            <a:r>
              <a:t>语法：</a:t>
            </a:r>
          </a:p>
          <a:p>
            <a:pPr marL="0" indent="0" defTabSz="2194505">
              <a:spcBef>
                <a:spcPts val="4000"/>
              </a:spcBef>
              <a:buSzTx/>
              <a:buNone/>
              <a:defRPr sz="4319"/>
            </a:pPr>
            <a:r>
              <a:t>Try:尝试</a:t>
            </a:r>
          </a:p>
          <a:p>
            <a:pPr lvl="1" marL="0" indent="411479" defTabSz="2194505">
              <a:spcBef>
                <a:spcPts val="4000"/>
              </a:spcBef>
              <a:buSzTx/>
              <a:buNone/>
              <a:defRPr sz="4319"/>
            </a:pPr>
            <a:r>
              <a:t>Code主程序</a:t>
            </a:r>
          </a:p>
          <a:p>
            <a:pPr marL="0" indent="0" defTabSz="2194505">
              <a:spcBef>
                <a:spcPts val="4000"/>
              </a:spcBef>
              <a:buSzTx/>
              <a:buNone/>
              <a:defRPr sz="4319"/>
            </a:pPr>
            <a:r>
              <a:t>Except:出现意外情况</a:t>
            </a:r>
          </a:p>
          <a:p>
            <a:pPr marL="0" indent="0" defTabSz="2194505">
              <a:spcBef>
                <a:spcPts val="4000"/>
              </a:spcBef>
              <a:buSzTx/>
              <a:buNone/>
              <a:defRPr sz="4319"/>
            </a:pPr>
            <a:r>
              <a:t>Raise error 报错</a:t>
            </a:r>
          </a:p>
          <a:p>
            <a:pPr marL="0" indent="0" defTabSz="2194505">
              <a:spcBef>
                <a:spcPts val="4000"/>
              </a:spcBef>
              <a:buSzTx/>
              <a:buNone/>
              <a:defRPr sz="4319"/>
            </a:pPr>
            <a:r>
              <a:t>Finally:不管出不出错都执行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
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/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2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8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58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5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unoob.com/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Nicky Niu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Nicky Niu</a:t>
            </a:r>
          </a:p>
        </p:txBody>
      </p:sp>
      <p:sp>
        <p:nvSpPr>
          <p:cNvPr id="78" name="Python lectur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lecture 1</a:t>
            </a:r>
          </a:p>
        </p:txBody>
      </p:sp>
      <p:sp>
        <p:nvSpPr>
          <p:cNvPr id="79" name="推荐网站，安装与环境配置，输入输出，变量命名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767715">
              <a:defRPr sz="5115"/>
            </a:pPr>
            <a:r>
              <a:t>推荐网站，安装与环境配置，输入输出，变量命名</a:t>
            </a:r>
          </a:p>
          <a:p>
            <a:pPr defTabSz="767715">
              <a:defRPr sz="5115"/>
            </a:pPr>
            <a:r>
              <a:t>基本数据类型及转换，数据集合，运算符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推荐网站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推荐网站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推荐网站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推荐网站</a:t>
            </a:r>
          </a:p>
        </p:txBody>
      </p:sp>
      <p:sp>
        <p:nvSpPr>
          <p:cNvPr id="8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菜鸟教程 https://www.runoob.com/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菜鸟教程 </a:t>
            </a:r>
            <a:r>
              <a:rPr u="sng">
                <a:hlinkClick r:id="rId2" invalidUrl="" action="" tgtFrame="" tooltip="" history="1" highlightClick="0" endSnd="0"/>
              </a:rPr>
              <a:t>https://www.runoob.com/</a:t>
            </a:r>
          </a:p>
          <a:p>
            <a:pPr marL="0" indent="0">
              <a:buSzTx/>
              <a:buNone/>
            </a:pPr>
            <a:r>
              <a:t>丰富且详细的python指导，可以交互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第一个python程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第一个python程序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第一个python程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第一个python程序</a:t>
            </a:r>
          </a:p>
        </p:txBody>
      </p:sp>
      <p:sp>
        <p:nvSpPr>
          <p:cNvPr id="90" name="在页面输入print(“helloworld”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在页面输入print(“helloworld”)</a:t>
            </a:r>
          </a:p>
          <a:p>
            <a:pPr/>
            <a:r>
              <a:t>理论上控制台会出现 helloworld的字样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输入输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输入输出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输入与输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输入与输出</a:t>
            </a:r>
          </a:p>
        </p:txBody>
      </p:sp>
      <p:sp>
        <p:nvSpPr>
          <p:cNvPr id="95" name="print(希望输出的内容)可以将内容输出同时换行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print(希望输出的内容)可以将内容输出同时换行</a:t>
            </a:r>
          </a:p>
          <a:p>
            <a:pPr/>
            <a:r>
              <a:t>如果不换行，就是print(希望输出的内容, end = “ ”）</a:t>
            </a:r>
          </a:p>
          <a:p>
            <a:pPr marL="0" indent="0">
              <a:buSzTx/>
              <a:buNone/>
            </a:pPr>
          </a:p>
          <a:p>
            <a:pPr/>
            <a:r>
              <a:t>input(指导用户的内容)可以输入内容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变量命名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变量命名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变量命名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变量命名</a:t>
            </a:r>
          </a:p>
        </p:txBody>
      </p:sp>
      <p:sp>
        <p:nvSpPr>
          <p:cNvPr id="100" name="Python的要求：不能重复关键字，不能有特殊字符，不能有无法被识别的字符。必须以大小写字母或者下划线（ _ ）开头。变量中间以及结尾可以使用数字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Python的要求：不能重复关键字，不能有特殊字符，不能有无法被识别的字符。必须以大小写字母或者下划线（ _ ）开头。变量中间以及结尾可以使用数字。</a:t>
            </a:r>
          </a:p>
          <a:p>
            <a:pPr marL="0" indent="0">
              <a:buSzTx/>
              <a:buNone/>
            </a:pPr>
          </a:p>
          <a:p>
            <a:pPr/>
            <a:r>
              <a:t>如果你即将在我们这里工作：变量需要全部小写，名称为实际用途，用下划线（ _ ） 连接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基本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基本数据类型及转换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ython的语言内容的基础是数据。在python中，各种数据有其不同的类型，其基础为int, string, complex, float,bool,list, tuple, se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Python的语言内容的基础是数据。在python中，各种数据有其不同的类型，其基础为int, string, complex, float,bool,list, tuple, set</a:t>
            </a:r>
          </a:p>
        </p:txBody>
      </p:sp>
      <p:sp>
        <p:nvSpPr>
          <p:cNvPr id="105" name="数据类型及转换"/>
          <p:cNvSpPr txBox="1"/>
          <p:nvPr/>
        </p:nvSpPr>
        <p:spPr>
          <a:xfrm>
            <a:off x="1206500" y="952439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560536">
              <a:lnSpc>
                <a:spcPct val="80000"/>
              </a:lnSpc>
              <a:spcBef>
                <a:spcPts val="0"/>
              </a:spcBef>
              <a:defRPr b="1" spc="-148" sz="7424">
                <a:solidFill>
                  <a:srgbClr val="FFFFFF"/>
                </a:solidFill>
              </a:defRPr>
            </a:lvl1pPr>
          </a:lstStyle>
          <a:p>
            <a:pPr/>
            <a:r>
              <a:t>数据类型及转换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08" name="in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int</a:t>
            </a:r>
          </a:p>
        </p:txBody>
      </p:sp>
      <p:sp>
        <p:nvSpPr>
          <p:cNvPr id="109" name="int 用于存储数字（整数），大小没有限制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 用于存储数字（整数），大小没有限制</a:t>
            </a:r>
          </a:p>
          <a:p>
            <a:pPr/>
            <a:r>
              <a:t>表示：正常数字</a:t>
            </a:r>
          </a:p>
          <a:p>
            <a:pPr/>
            <a:r>
              <a:t>将其他数据类型转换成int: int(要转换的数据)</a:t>
            </a:r>
          </a:p>
          <a:p>
            <a:pPr/>
            <a:r>
              <a:t>有些数据不可以转换(后面会讲）</a:t>
            </a:r>
          </a:p>
          <a:p>
            <a:pPr/>
            <a:r>
              <a:t>运算：+，-，*，/，%，//,**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12" name="Floa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Float</a:t>
            </a:r>
          </a:p>
        </p:txBody>
      </p:sp>
      <p:sp>
        <p:nvSpPr>
          <p:cNvPr id="113" name="Float用于存储浮点数（小数）以及科学计数法，大小没有限制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Float用于存储浮点数（小数）以及科学计数法，大小没有限制</a:t>
            </a:r>
          </a:p>
          <a:p>
            <a:pPr/>
            <a:r>
              <a:t>表示：正常小数，正常科学计数法</a:t>
            </a:r>
          </a:p>
          <a:p>
            <a:pPr/>
            <a:r>
              <a:t>将其他数据类型转换成float: float(要转换的数据)</a:t>
            </a:r>
          </a:p>
          <a:p>
            <a:pPr/>
            <a:r>
              <a:t>转换为int: 正数往下取整，负数往上取整</a:t>
            </a:r>
          </a:p>
          <a:p>
            <a:pPr/>
            <a:r>
              <a:t>有些数据不可以转换(后面会讲）</a:t>
            </a:r>
          </a:p>
          <a:p>
            <a:pPr/>
            <a:r>
              <a:t>运算：+，-，*，/，%，//, **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数据类型及转换"/>
          <p:cNvSpPr txBox="1"/>
          <p:nvPr>
            <p:ph type="title"/>
          </p:nvPr>
        </p:nvSpPr>
        <p:spPr>
          <a:xfrm>
            <a:off x="1412984" y="1421784"/>
            <a:ext cx="21971001" cy="1433163"/>
          </a:xfrm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16" name="Complex"/>
          <p:cNvSpPr txBox="1"/>
          <p:nvPr>
            <p:ph type="body" idx="21"/>
          </p:nvPr>
        </p:nvSpPr>
        <p:spPr>
          <a:xfrm>
            <a:off x="1412984" y="2433676"/>
            <a:ext cx="21971001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Complex</a:t>
            </a:r>
          </a:p>
        </p:txBody>
      </p:sp>
      <p:sp>
        <p:nvSpPr>
          <p:cNvPr id="117" name="Complex用于存储复数（形如a+bj的形式，j^2=-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Complex用于存储复数（形如a+bj的形式，j^2=-1)</a:t>
            </a:r>
          </a:p>
          <a:p>
            <a:pPr/>
            <a:r>
              <a:t>将其他数据类型转换成complex: complex(要转换的数据)</a:t>
            </a:r>
          </a:p>
          <a:p>
            <a:pPr/>
            <a:r>
              <a:t>含有非字母表示的string不能转换为complex,有虚数部分的complex不可以转换为int 和float</a:t>
            </a:r>
          </a:p>
          <a:p>
            <a:pPr/>
            <a:r>
              <a:t>运算：+，-，*，/，%，//, **，abs()模长，conjugate()共轭, real实部，imag虚部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20" name="st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string</a:t>
            </a:r>
          </a:p>
        </p:txBody>
      </p:sp>
      <p:sp>
        <p:nvSpPr>
          <p:cNvPr id="121" name="String用于存储字符串（词语，句子，字母以及特殊字符），大小没有限制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String用于存储字符串（词语，句子，字母以及特殊字符），大小没有限制</a:t>
            </a:r>
          </a:p>
          <a:p>
            <a:pPr/>
            <a:r>
              <a:t>表示：“字符串内容”或’字符串内容’</a:t>
            </a:r>
          </a:p>
          <a:p>
            <a:pPr/>
            <a:r>
              <a:t>将其他数据类型转换成string: str(要转换的数据)</a:t>
            </a:r>
          </a:p>
          <a:p>
            <a:pPr/>
            <a:r>
              <a:t>注意：含有字母的string不可以转换成int 以及float</a:t>
            </a:r>
          </a:p>
          <a:p>
            <a:pPr/>
            <a:r>
              <a:t>String 也有运算，但是manim几乎用不着,感兴趣可以了解一下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24" name="Boo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Bool</a:t>
            </a:r>
          </a:p>
        </p:txBody>
      </p:sp>
      <p:sp>
        <p:nvSpPr>
          <p:cNvPr id="125" name="Bool用于存储布尔值（一个存储真或假的类型，用于判断）…"/>
          <p:cNvSpPr txBox="1"/>
          <p:nvPr>
            <p:ph type="body" idx="1"/>
          </p:nvPr>
        </p:nvSpPr>
        <p:spPr>
          <a:xfrm>
            <a:off x="2407867" y="4248504"/>
            <a:ext cx="21971001" cy="8256012"/>
          </a:xfrm>
          <a:prstGeom prst="rect">
            <a:avLst/>
          </a:prstGeom>
        </p:spPr>
        <p:txBody>
          <a:bodyPr/>
          <a:lstStyle/>
          <a:p>
            <a:pPr/>
            <a:r>
              <a:t>Bool用于存储布尔值（一个存储真或假的类型，用于判断）</a:t>
            </a:r>
          </a:p>
          <a:p>
            <a:pPr/>
            <a:r>
              <a:t>将其他数据类型转换成bool: bool(要转换的数据)</a:t>
            </a:r>
          </a:p>
          <a:p>
            <a:pPr/>
            <a:r>
              <a:t>运算：and(与运算），or(或运算），not(非运算）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数据类型及转换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数据类型及转换</a:t>
            </a:r>
          </a:p>
        </p:txBody>
      </p:sp>
      <p:sp>
        <p:nvSpPr>
          <p:cNvPr id="128" name="Non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None</a:t>
            </a:r>
          </a:p>
        </p:txBody>
      </p:sp>
      <p:sp>
        <p:nvSpPr>
          <p:cNvPr id="129" name="None是几种运算符中最特殊的一种，表示没有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None是几种运算符中最特殊的一种，表示没有</a:t>
            </a:r>
          </a:p>
          <a:p>
            <a:pPr/>
            <a:r>
              <a:t>None 不是0，也不是false,就是表示不存在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判断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判断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判断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判断</a:t>
            </a:r>
          </a:p>
        </p:txBody>
      </p:sp>
      <p:sp>
        <p:nvSpPr>
          <p:cNvPr id="134" name="if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if</a:t>
            </a:r>
          </a:p>
        </p:txBody>
      </p:sp>
      <p:sp>
        <p:nvSpPr>
          <p:cNvPr id="135" name="If是一个控制阀，可以根据条件判断程序是否执行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If是一个控制阀，可以根据条件判断程序是否执行</a:t>
            </a:r>
          </a:p>
          <a:p>
            <a:pPr/>
            <a:r>
              <a:t>格式：if(condition):</a:t>
            </a:r>
          </a:p>
          <a:p>
            <a:pPr/>
            <a:r>
              <a:t>condition为一个布尔值，当condition为true时执行，为false时不执行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判断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判断</a:t>
            </a:r>
          </a:p>
        </p:txBody>
      </p:sp>
      <p:sp>
        <p:nvSpPr>
          <p:cNvPr id="138" name="elif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elif</a:t>
            </a:r>
          </a:p>
        </p:txBody>
      </p:sp>
      <p:sp>
        <p:nvSpPr>
          <p:cNvPr id="139" name="Elif在if不执行的同时条件时执行，可以有多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Elif在if不执行的同时条件时执行，可以有多层</a:t>
            </a:r>
          </a:p>
          <a:p>
            <a:pPr/>
            <a:r>
              <a:t>格式：elif(condition):</a:t>
            </a:r>
          </a:p>
          <a:p>
            <a:pPr/>
            <a:r>
              <a:t>condition为一个布尔值，当condition为true时执行，为false时不执行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判断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判断</a:t>
            </a:r>
          </a:p>
        </p:txBody>
      </p:sp>
      <p:sp>
        <p:nvSpPr>
          <p:cNvPr id="142" name="Els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Else</a:t>
            </a:r>
          </a:p>
        </p:txBody>
      </p:sp>
      <p:sp>
        <p:nvSpPr>
          <p:cNvPr id="143" name="else在if 和else都不执行时执行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else在if 和else都不执行时执行</a:t>
            </a:r>
          </a:p>
          <a:p>
            <a:pPr/>
            <a:r>
              <a:t>格式：else: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循环</a:t>
            </a:r>
          </a:p>
        </p:txBody>
      </p:sp>
      <p:sp>
        <p:nvSpPr>
          <p:cNvPr id="148" name="for循环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for循环</a:t>
            </a:r>
          </a:p>
        </p:txBody>
      </p:sp>
      <p:sp>
        <p:nvSpPr>
          <p:cNvPr id="149" name="For循环是python中最常见的一种循环方式，使一个程序执行多次成为了可能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For循环是python中最常见的一种循环方式，使一个程序执行多次成为了可能</a:t>
            </a:r>
          </a:p>
          <a:p>
            <a:pPr/>
            <a:r>
              <a:t>格式：for number_loop in range(loop_time)/list:</a:t>
            </a:r>
          </a:p>
          <a:p>
            <a:pPr/>
            <a:r>
              <a:t>后面会有退格。如果没有，就是写错了</a:t>
            </a:r>
          </a:p>
          <a:p>
            <a:pPr/>
            <a:r>
              <a:t>range()是一个python的方法，可以输出连续的数字</a:t>
            </a:r>
          </a:p>
          <a:p>
            <a:pPr/>
            <a:r>
              <a:t>In 后面也可以是 dict, string等，感兴趣可以自行了解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循环</a:t>
            </a:r>
          </a:p>
        </p:txBody>
      </p:sp>
      <p:sp>
        <p:nvSpPr>
          <p:cNvPr id="152" name="while循环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while循环</a:t>
            </a:r>
          </a:p>
        </p:txBody>
      </p:sp>
      <p:sp>
        <p:nvSpPr>
          <p:cNvPr id="153" name="While循环是python中另一种常见的循环方法，但是在manim中几乎用不到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While循环是python中另一种常见的循环方法，但是在manim中几乎用不到。</a:t>
            </a:r>
          </a:p>
          <a:p>
            <a:pPr/>
            <a:r>
              <a:t>格式：while(condition):</a:t>
            </a:r>
          </a:p>
          <a:p>
            <a:pPr/>
            <a:r>
              <a:t>Condition为一个布尔值，当为true时循环执行，当为false时不执行或终止</a:t>
            </a:r>
          </a:p>
          <a:p>
            <a:pPr/>
            <a:r>
              <a:t>可能会有永远执行的情况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循环</a:t>
            </a:r>
          </a:p>
        </p:txBody>
      </p:sp>
      <p:sp>
        <p:nvSpPr>
          <p:cNvPr id="156" name="关键字:continue 和 break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关键字:continue 和 break</a:t>
            </a:r>
          </a:p>
        </p:txBody>
      </p:sp>
      <p:sp>
        <p:nvSpPr>
          <p:cNvPr id="157" name="Continue 和break 都可以在for，while, 中使用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Continue 和break 都可以在for，while, 中使用</a:t>
            </a:r>
          </a:p>
          <a:p>
            <a:pPr/>
            <a:r>
              <a:t>Continue的意思是进入下一个循环</a:t>
            </a:r>
          </a:p>
          <a:p>
            <a:pPr/>
            <a:r>
              <a:t>Break 的意思是直接跳出循环</a:t>
            </a:r>
          </a:p>
          <a:p>
            <a:pPr/>
            <a:r>
              <a:t>Break, continue通常与if 结合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注释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注释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注释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注释</a:t>
            </a:r>
          </a:p>
        </p:txBody>
      </p:sp>
      <p:sp>
        <p:nvSpPr>
          <p:cNvPr id="162" name="单行注释：#注释内容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单行注释：#注释内容</a:t>
            </a:r>
          </a:p>
          <a:p>
            <a:pPr/>
          </a:p>
          <a:p>
            <a:pPr/>
            <a:r>
              <a:t>多行注释：’’’注释内容’’’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运算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运算符"/>
          <p:cNvSpPr txBox="1"/>
          <p:nvPr>
            <p:ph type="title"/>
          </p:nvPr>
        </p:nvSpPr>
        <p:spPr>
          <a:xfrm>
            <a:off x="1412984" y="1421784"/>
            <a:ext cx="21971001" cy="1433163"/>
          </a:xfrm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运算符</a:t>
            </a:r>
          </a:p>
        </p:txBody>
      </p:sp>
      <p:sp>
        <p:nvSpPr>
          <p:cNvPr id="167" name="数字加减"/>
          <p:cNvSpPr txBox="1"/>
          <p:nvPr>
            <p:ph type="body" idx="21"/>
          </p:nvPr>
        </p:nvSpPr>
        <p:spPr>
          <a:xfrm>
            <a:off x="1412984" y="2433676"/>
            <a:ext cx="21971001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数字加减</a:t>
            </a:r>
          </a:p>
        </p:txBody>
      </p:sp>
      <p:sp>
        <p:nvSpPr>
          <p:cNvPr id="168" name="+：相加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+：相加</a:t>
            </a:r>
          </a:p>
          <a:p>
            <a:pPr/>
            <a:r>
              <a:t>-：相减</a:t>
            </a:r>
          </a:p>
          <a:p>
            <a:pPr/>
            <a:r>
              <a:t>*：相乘</a:t>
            </a:r>
          </a:p>
          <a:p>
            <a:pPr/>
            <a:r>
              <a:t>/：相除，返回浮点数</a:t>
            </a:r>
          </a:p>
          <a:p>
            <a:pPr/>
            <a:r>
              <a:t>//：整除，返回int</a:t>
            </a:r>
          </a:p>
          <a:p>
            <a:pPr/>
            <a:r>
              <a:t>**:幂运算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运算符"/>
          <p:cNvSpPr txBox="1"/>
          <p:nvPr>
            <p:ph type="title"/>
          </p:nvPr>
        </p:nvSpPr>
        <p:spPr>
          <a:xfrm>
            <a:off x="1412984" y="1421784"/>
            <a:ext cx="21971001" cy="1433163"/>
          </a:xfrm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运算符</a:t>
            </a:r>
          </a:p>
        </p:txBody>
      </p:sp>
      <p:sp>
        <p:nvSpPr>
          <p:cNvPr id="171" name="数字加减"/>
          <p:cNvSpPr txBox="1"/>
          <p:nvPr>
            <p:ph type="body" idx="21"/>
          </p:nvPr>
        </p:nvSpPr>
        <p:spPr>
          <a:xfrm>
            <a:off x="1412984" y="2433676"/>
            <a:ext cx="21971001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数字加减</a:t>
            </a:r>
          </a:p>
        </p:txBody>
      </p:sp>
      <p:sp>
        <p:nvSpPr>
          <p:cNvPr id="172" name="+=：相加赋值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+=：相加赋值</a:t>
            </a:r>
          </a:p>
          <a:p>
            <a:pPr/>
            <a:r>
              <a:t>-=：相减赋值</a:t>
            </a:r>
          </a:p>
          <a:p>
            <a:pPr/>
            <a:r>
              <a:t>*=：相乘赋值</a:t>
            </a:r>
          </a:p>
          <a:p>
            <a:pPr/>
            <a:r>
              <a:t>/=：相除赋值，返回浮点数</a:t>
            </a:r>
          </a:p>
          <a:p>
            <a:pPr/>
            <a:r>
              <a:t>//=：整除赋值，返回int</a:t>
            </a:r>
          </a:p>
          <a:p>
            <a:pPr/>
            <a:r>
              <a:t>**=:幂赋值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运算符"/>
          <p:cNvSpPr txBox="1"/>
          <p:nvPr>
            <p:ph type="title"/>
          </p:nvPr>
        </p:nvSpPr>
        <p:spPr>
          <a:xfrm>
            <a:off x="1412984" y="1421784"/>
            <a:ext cx="21971001" cy="1433163"/>
          </a:xfrm>
          <a:prstGeom prst="rect">
            <a:avLst/>
          </a:prstGeom>
        </p:spPr>
        <p:txBody>
          <a:bodyPr/>
          <a:lstStyle>
            <a:lvl1pPr defTabSz="1560536">
              <a:defRPr spc="-148" sz="7424"/>
            </a:lvl1pPr>
          </a:lstStyle>
          <a:p>
            <a:pPr/>
            <a:r>
              <a:t>运算符</a:t>
            </a:r>
          </a:p>
        </p:txBody>
      </p:sp>
      <p:sp>
        <p:nvSpPr>
          <p:cNvPr id="175" name="布尔值运算"/>
          <p:cNvSpPr txBox="1"/>
          <p:nvPr>
            <p:ph type="body" idx="21"/>
          </p:nvPr>
        </p:nvSpPr>
        <p:spPr>
          <a:xfrm>
            <a:off x="1412984" y="2433676"/>
            <a:ext cx="21971001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布尔值运算</a:t>
            </a:r>
          </a:p>
        </p:txBody>
      </p:sp>
      <p:sp>
        <p:nvSpPr>
          <p:cNvPr id="176" name="and: 与运算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and: 与运算</a:t>
            </a:r>
          </a:p>
          <a:p>
            <a:pPr/>
            <a:r>
              <a:t>or:或运算</a:t>
            </a:r>
          </a:p>
          <a:p>
            <a:pPr/>
            <a:r>
              <a:t>not: 非运算 not true=false, not false=true</a:t>
            </a:r>
          </a:p>
          <a:p>
            <a:pPr/>
            <a:r>
              <a:t>Python还有一种位运算符，感兴趣可以了解一下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